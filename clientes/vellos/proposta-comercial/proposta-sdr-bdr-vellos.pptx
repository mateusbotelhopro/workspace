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194560"/>
            <a:ext cx="6400800" cy="6400800"/>
          </a:xfrm>
          <a:prstGeom prst="ellipse">
            <a:avLst/>
          </a:prstGeom>
          <a:solidFill>
            <a:srgbClr val="00C9A7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326880" y="-1005840"/>
            <a:ext cx="3657600" cy="3657600"/>
          </a:xfrm>
          <a:prstGeom prst="ellipse">
            <a:avLst/>
          </a:prstGeom>
          <a:solidFill>
            <a:srgbClr val="00C9A7">
              <a:alpha val="16000"/>
            </a:srgbClr>
          </a:solidFill>
          <a:ln/>
        </p:spPr>
        <p:txBody>
          <a:bodyPr/>
          <a:p/>
        </p:txBody>
      </p:sp>
      <p:pic>
        <p:nvPicPr>
          <p:cNvPr id="4" name="Image 0" descr="c:/Users/mateu/Desktop/BotelhoOS/clientes/vellos/unpacked/vellos-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310896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0704" y="5486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Vellos</a:t>
            </a:r>
            <a:pPr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332927" y="6035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spc="200" kern="0" dirty="0">
                <a:solidFill>
                  <a:srgbClr val="B9C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PROPOSTA COMERCIAL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58368" y="19659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00C9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PROSPECÇÃO ATIVA B2B  ·  SDR &amp; BDR DEDICADOS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23317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Ative e renove a base que sua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empresa já tem.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58368" y="39776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7E6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Proposta de investimento para estruturar sua operação de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7E6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prospecção ativa, ligações e atualização da base de dados já existente.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48280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Preparado para: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[Nome da Empresa]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8368" y="5852160"/>
            <a:ext cx="10874959" cy="9144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32688" y="5852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C9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EMPRESAS COM BASE DE DADOS PRÓPRIA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69280" y="5852160"/>
            <a:ext cx="55897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D7E6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 de Inteligência Comercial B2B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8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01. OBJETIVO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D1F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que vamos construir juntos.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95033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operação de prospecção ativa, com SDR e BDR dedicados, para empresas que já possuem sua própria base de dados.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710367" y="868680"/>
            <a:ext cx="822960" cy="822960"/>
          </a:xfrm>
          <a:prstGeom prst="ellipse">
            <a:avLst/>
          </a:prstGeom>
          <a:solidFill>
            <a:srgbClr val="0D1F1C"/>
          </a:solidFill>
          <a:ln/>
        </p:spPr>
        <p:txBody>
          <a:bodyPr/>
          <a:p/>
        </p:txBody>
      </p:sp>
      <p:pic>
        <p:nvPicPr>
          <p:cNvPr id="6" name="Image 0" descr="C:\Users\mateu\AppData\Local\Temp\claude\c--Users-mateu-Desktop-BotelhoOS-clientes-vellos\dfbad1cb-47d5-4b6f-a657-5f91b391efae\scratchpad\vellos-pptx-build\icons_png\sync-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5582" y="983894"/>
            <a:ext cx="592531" cy="59253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2331720"/>
            <a:ext cx="54864" cy="18745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13232" y="2331720"/>
            <a:ext cx="10820095" cy="1874520"/>
          </a:xfrm>
          <a:prstGeom prst="rect">
            <a:avLst/>
          </a:prstGeom>
          <a:solidFill>
            <a:srgbClr val="00C9A7">
              <a:alpha val="6000"/>
            </a:srgbClr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024128" y="2514600"/>
            <a:ext cx="101434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D1F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foco não é construir uma base do zero. É ativar, prospectar e renovar a cartela que sua empresa já tem,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D1F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ligações, prospecção multicanal e atualização contínua dos dados.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24128" y="3383280"/>
            <a:ext cx="101434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A8F7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“Cartela existente, performance renovada”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24128" y="3822192"/>
            <a:ext cx="101434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é prospectar mais. É reativar com método o que já é seu.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" y="4709160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0D1F1C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58368" y="4709160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Ligações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792224" y="4709160"/>
            <a:ext cx="1449324" cy="384048"/>
          </a:xfrm>
          <a:prstGeom prst="roundRect">
            <a:avLst>
              <a:gd name="adj" fmla="val 50000"/>
            </a:avLst>
          </a:prstGeom>
          <a:solidFill>
            <a:srgbClr val="0D1F1C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792224" y="4709160"/>
            <a:ext cx="14493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Multicanal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406140" y="4709160"/>
            <a:ext cx="2025396" cy="384048"/>
          </a:xfrm>
          <a:prstGeom prst="roundRect">
            <a:avLst>
              <a:gd name="adj" fmla="val 50000"/>
            </a:avLst>
          </a:prstGeom>
          <a:solidFill>
            <a:srgbClr val="0D1F1C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3406140" y="4709160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Atualização de base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C2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VELLOS</a:t>
            </a:r>
            <a:pPr indent="0" marL="0">
              <a:buNone/>
            </a:pPr>
            <a:r>
              <a:rPr lang="en-US" sz="900" spc="150" kern="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  Objetivo da operação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8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02. A OPERAÇÃO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D1F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SDR e BDR: quem faz o quê.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95033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Duas frentes trabalhando juntas sobre a base de dados que sua empresa já possui.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525460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4ECE9"/>
            </a:solidFill>
            <a:prstDash val="solid"/>
          </a:ln>
          <a:effectLst>
            <a:outerShdw sx="100000" sy="100000" kx="0" ky="0" algn="bl" rotWithShape="0" blurRad="101600" dist="38100" dir="8100000">
              <a:srgbClr val="0D1F1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78408" y="2651760"/>
            <a:ext cx="658368" cy="658368"/>
          </a:xfrm>
          <a:prstGeom prst="ellipse">
            <a:avLst/>
          </a:prstGeom>
          <a:solidFill>
            <a:srgbClr val="0D1F1C"/>
          </a:solidFill>
          <a:ln/>
        </p:spPr>
        <p:txBody>
          <a:bodyPr/>
          <a:p/>
        </p:txBody>
      </p:sp>
      <p:pic>
        <p:nvPicPr>
          <p:cNvPr id="7" name="Image 0" descr="C:\Users\mateu\AppData\Local\Temp\claude\c--Users-mateu-Desktop-BotelhoOS-clientes-vellos\dfbad1cb-47d5-4b6f-a657-5f91b391efae\scratchpad\vellos-pptx-build\icons_png\headset-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580" y="2743932"/>
            <a:ext cx="474025" cy="4740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01368" y="2624328"/>
            <a:ext cx="379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SDR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78408" y="3502152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8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Development Representative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78408" y="3758184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Representante de Desenvolvimento de Vendas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78408" y="4160520"/>
            <a:ext cx="4614520" cy="0"/>
          </a:xfrm>
          <a:prstGeom prst="line">
            <a:avLst/>
          </a:prstGeom>
          <a:noFill/>
          <a:ln w="12700">
            <a:solidFill>
              <a:srgbClr val="E4ECE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78408" y="4343400"/>
            <a:ext cx="461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1C2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Qualifica os contatos da base antes da abordagem comercial.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1C2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 decisores e o momento de compra dentro da cartela.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1C2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 o terreno para a atuação do BDR e do time comercial.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78728" y="2331720"/>
            <a:ext cx="525460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4ECE9"/>
            </a:solidFill>
            <a:prstDash val="solid"/>
          </a:ln>
          <a:effectLst>
            <a:outerShdw sx="100000" sy="100000" kx="0" ky="0" algn="bl" rotWithShape="0" blurRad="101600" dist="38100" dir="8100000">
              <a:srgbClr val="0D1F1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598768" y="2651760"/>
            <a:ext cx="658368" cy="658368"/>
          </a:xfrm>
          <a:prstGeom prst="ellipse">
            <a:avLst/>
          </a:prstGeom>
          <a:solidFill>
            <a:srgbClr val="0D1F1C"/>
          </a:solidFill>
          <a:ln/>
        </p:spPr>
        <p:txBody>
          <a:bodyPr/>
          <a:p/>
        </p:txBody>
      </p:sp>
      <p:pic>
        <p:nvPicPr>
          <p:cNvPr id="15" name="Image 1" descr="C:\Users\mateu\AppData\Local\Temp\claude\c--Users-mateu-Desktop-BotelhoOS-clientes-vellos\dfbad1cb-47d5-4b6f-a657-5f91b391efae\scratchpad\vellos-pptx-build\icons_png\handshake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939" y="2743932"/>
            <a:ext cx="474025" cy="4740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21728" y="2624328"/>
            <a:ext cx="379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BDR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6598768" y="3502152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8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Development Representative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98768" y="3758184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Representante de Desenvolvimento de Negócios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598768" y="4160520"/>
            <a:ext cx="4614520" cy="0"/>
          </a:xfrm>
          <a:prstGeom prst="line">
            <a:avLst/>
          </a:prstGeom>
          <a:noFill/>
          <a:ln w="12700">
            <a:solidFill>
              <a:srgbClr val="E4ECE9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6598768" y="4343400"/>
            <a:ext cx="461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1C2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Faz ligações e prospecção ativa, inclusive multicanal.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1C2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 e renova os dados da cartela já existente.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1C2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 novas oportunidades de negócio dentro e fora da base.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5836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C2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VELLOS</a:t>
            </a:r>
            <a:pPr indent="0" marL="0">
              <a:buNone/>
            </a:pPr>
            <a:r>
              <a:rPr lang="en-US" sz="900" spc="150" kern="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  SDR e BDR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8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03. ESCOPO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D1F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que está incluso na operação.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95033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Pensado para quem já tem base própria e quer performance, não construção do zero.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344210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CE9"/>
            </a:solidFill>
            <a:prstDash val="solid"/>
          </a:ln>
          <a:effectLst>
            <a:outerShdw sx="100000" sy="100000" kx="0" ky="0" algn="bl" rotWithShape="0" blurRad="101600" dist="38100" dir="8100000">
              <a:srgbClr val="0D1F1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6112" y="2569464"/>
            <a:ext cx="512064" cy="512064"/>
          </a:xfrm>
          <a:prstGeom prst="ellipse">
            <a:avLst/>
          </a:prstGeom>
          <a:solidFill>
            <a:srgbClr val="0D1F1C"/>
          </a:solidFill>
          <a:ln/>
        </p:spPr>
        <p:txBody>
          <a:bodyPr/>
          <a:p/>
        </p:txBody>
      </p:sp>
      <p:pic>
        <p:nvPicPr>
          <p:cNvPr id="7" name="Image 0" descr="C:\Users\mateu\AppData\Local\Temp\claude\c--Users-mateu-Desktop-BotelhoOS-clientes-vellos\dfbad1cb-47d5-4b6f-a657-5f91b391efae\scratchpad\vellos-pptx-build\icons_png\phone-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01" y="2641153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22783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D1F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Ligações ativas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6112" y="3575304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Contato direto por telefone com os decisores da sua cartela.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74794" y="2331720"/>
            <a:ext cx="344210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CE9"/>
            </a:solidFill>
            <a:prstDash val="solid"/>
          </a:ln>
          <a:effectLst>
            <a:outerShdw sx="100000" sy="100000" kx="0" ky="0" algn="bl" rotWithShape="0" blurRad="101600" dist="38100" dir="8100000">
              <a:srgbClr val="0D1F1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12538" y="2569464"/>
            <a:ext cx="512064" cy="512064"/>
          </a:xfrm>
          <a:prstGeom prst="ellipse">
            <a:avLst/>
          </a:prstGeom>
          <a:solidFill>
            <a:srgbClr val="0D1F1C"/>
          </a:solidFill>
          <a:ln/>
        </p:spPr>
        <p:txBody>
          <a:bodyPr/>
          <a:p/>
        </p:txBody>
      </p:sp>
      <p:pic>
        <p:nvPicPr>
          <p:cNvPr id="12" name="Image 1" descr="C:\Users\mateu\AppData\Local\Temp\claude\c--Users-mateu-Desktop-BotelhoOS-clientes-vellos\dfbad1cb-47d5-4b6f-a657-5f91b391efae\scratchpad\vellos-pptx-build\icons_png\globe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227" y="2641153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2538" y="322783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D1F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Prospecção multicanal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612538" y="3575304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Abordagem de contatos e mercados fora do Brasil.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91221" y="2331720"/>
            <a:ext cx="344210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CE9"/>
            </a:solidFill>
            <a:prstDash val="solid"/>
          </a:ln>
          <a:effectLst>
            <a:outerShdw sx="100000" sy="100000" kx="0" ky="0" algn="bl" rotWithShape="0" blurRad="101600" dist="38100" dir="8100000">
              <a:srgbClr val="0D1F1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28965" y="2569464"/>
            <a:ext cx="512064" cy="512064"/>
          </a:xfrm>
          <a:prstGeom prst="ellipse">
            <a:avLst/>
          </a:prstGeom>
          <a:solidFill>
            <a:srgbClr val="0D1F1C"/>
          </a:solidFill>
          <a:ln/>
        </p:spPr>
        <p:txBody>
          <a:bodyPr/>
          <a:p/>
        </p:txBody>
      </p:sp>
      <p:pic>
        <p:nvPicPr>
          <p:cNvPr id="17" name="Image 2" descr="C:\Users\mateu\AppData\Local\Temp\claude\c--Users-mateu-Desktop-BotelhoOS-clientes-vellos\dfbad1cb-47d5-4b6f-a657-5f91b391efae\scratchpad\vellos-pptx-build\icons_png\databas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654" y="2641153"/>
            <a:ext cx="368686" cy="3686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8965" y="322783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D1F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Atualização da base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28965" y="3575304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Renovação e enriquecimento dos dados já existentes.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58368" y="4297680"/>
            <a:ext cx="344210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CE9"/>
            </a:solidFill>
            <a:prstDash val="solid"/>
          </a:ln>
          <a:effectLst>
            <a:outerShdw sx="100000" sy="100000" kx="0" ky="0" algn="bl" rotWithShape="0" blurRad="101600" dist="38100" dir="8100000">
              <a:srgbClr val="0D1F1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96112" y="4535424"/>
            <a:ext cx="512064" cy="512064"/>
          </a:xfrm>
          <a:prstGeom prst="ellipse">
            <a:avLst/>
          </a:prstGeom>
          <a:solidFill>
            <a:srgbClr val="0D1F1C"/>
          </a:solidFill>
          <a:ln/>
        </p:spPr>
        <p:txBody>
          <a:bodyPr/>
          <a:p/>
        </p:txBody>
      </p:sp>
      <p:pic>
        <p:nvPicPr>
          <p:cNvPr id="22" name="Image 3" descr="C:\Users\mateu\AppData\Local\Temp\claude\c--Users-mateu-Desktop-BotelhoOS-clientes-vellos\dfbad1cb-47d5-4b6f-a657-5f91b391efae\scratchpad\vellos-pptx-build\icons_png\targe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801" y="4607113"/>
            <a:ext cx="368686" cy="36868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6112" y="519379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D1F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Qualificação (SDR)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96112" y="5541264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 consultivo antes de qualquer agendamento.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74794" y="4297680"/>
            <a:ext cx="344210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CE9"/>
            </a:solidFill>
            <a:prstDash val="solid"/>
          </a:ln>
          <a:effectLst>
            <a:outerShdw sx="100000" sy="100000" kx="0" ky="0" algn="bl" rotWithShape="0" blurRad="101600" dist="38100" dir="8100000">
              <a:srgbClr val="0D1F1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4612538" y="4535424"/>
            <a:ext cx="512064" cy="512064"/>
          </a:xfrm>
          <a:prstGeom prst="ellipse">
            <a:avLst/>
          </a:prstGeom>
          <a:solidFill>
            <a:srgbClr val="0D1F1C"/>
          </a:solidFill>
          <a:ln/>
        </p:spPr>
        <p:txBody>
          <a:bodyPr/>
          <a:p/>
        </p:txBody>
      </p:sp>
      <p:pic>
        <p:nvPicPr>
          <p:cNvPr id="27" name="Image 4" descr="C:\Users\mateu\AppData\Local\Temp\claude\c--Users-mateu-Desktop-BotelhoOS-clientes-vellos\dfbad1cb-47d5-4b6f-a657-5f91b391efae\scratchpad\vellos-pptx-build\icons_png\userti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227" y="4607113"/>
            <a:ext cx="368686" cy="36868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12538" y="519379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D1F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Desenvolvimento (BDR)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612538" y="5541264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ativa de novas oportunidades de negócio.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91221" y="4297680"/>
            <a:ext cx="344210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CE9"/>
            </a:solidFill>
            <a:prstDash val="solid"/>
          </a:ln>
          <a:effectLst>
            <a:outerShdw sx="100000" sy="100000" kx="0" ky="0" algn="bl" rotWithShape="0" blurRad="101600" dist="38100" dir="8100000">
              <a:srgbClr val="0D1F1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8328965" y="4535424"/>
            <a:ext cx="512064" cy="512064"/>
          </a:xfrm>
          <a:prstGeom prst="ellipse">
            <a:avLst/>
          </a:prstGeom>
          <a:solidFill>
            <a:srgbClr val="0D1F1C"/>
          </a:solidFill>
          <a:ln/>
        </p:spPr>
        <p:txBody>
          <a:bodyPr/>
          <a:p/>
        </p:txBody>
      </p:sp>
      <p:pic>
        <p:nvPicPr>
          <p:cNvPr id="32" name="Image 5" descr="C:\Users\mateu\AppData\Local\Temp\claude\c--Users-mateu-Desktop-BotelhoOS-clientes-vellos\dfbad1cb-47d5-4b6f-a657-5f91b391efae\scratchpad\vellos-pptx-build\icons_png\char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0654" y="4607113"/>
            <a:ext cx="368686" cy="36868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28965" y="519379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D1F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 de performance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328965" y="5541264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Acompanhamento mensal dos resultados da operação.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65836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C2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VELLOS</a:t>
            </a:r>
            <a:pPr indent="0" marL="0">
              <a:buNone/>
            </a:pPr>
            <a:r>
              <a:rPr lang="en-US" sz="900" spc="150" kern="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  Escopo da operação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8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04. JORNADA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D1F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Horário dedicado à sua operação.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95033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Jornada comercial completa, com intervalo de almoço, cobrindo o horário de maior taxa de atendimento.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807208"/>
            <a:ext cx="10874959" cy="54864"/>
          </a:xfrm>
          <a:prstGeom prst="rect">
            <a:avLst/>
          </a:prstGeom>
          <a:solidFill>
            <a:srgbClr val="E4ECE9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2807208"/>
            <a:ext cx="4567483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965844" y="2807208"/>
            <a:ext cx="4567483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4360" y="2743200"/>
            <a:ext cx="182880" cy="182880"/>
          </a:xfrm>
          <a:prstGeom prst="ellipse">
            <a:avLst/>
          </a:prstGeom>
          <a:solidFill>
            <a:srgbClr val="0D1F1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01168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61843" y="2743200"/>
            <a:ext cx="182880" cy="182880"/>
          </a:xfrm>
          <a:prstGeom prst="ellipse">
            <a:avLst/>
          </a:prstGeom>
          <a:solidFill>
            <a:srgbClr val="0D1F1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68651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12h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01836" y="2743200"/>
            <a:ext cx="182880" cy="182880"/>
          </a:xfrm>
          <a:prstGeom prst="ellipse">
            <a:avLst/>
          </a:prstGeom>
          <a:solidFill>
            <a:srgbClr val="0D1F1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08644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13:30h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469319" y="2743200"/>
            <a:ext cx="182880" cy="182880"/>
          </a:xfrm>
          <a:prstGeom prst="ellipse">
            <a:avLst/>
          </a:prstGeom>
          <a:solidFill>
            <a:srgbClr val="0D1F1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076127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17h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25851" y="3063240"/>
            <a:ext cx="17399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Almoço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525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4ECE9"/>
            </a:solidFill>
            <a:prstDash val="solid"/>
          </a:ln>
          <a:effectLst>
            <a:outerShdw sx="100000" sy="100000" kx="0" ky="0" algn="bl" rotWithShape="0" blurRad="101600" dist="38100" dir="8100000">
              <a:srgbClr val="0D1F1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32688" y="3794760"/>
            <a:ext cx="548640" cy="548640"/>
          </a:xfrm>
          <a:prstGeom prst="ellipse">
            <a:avLst/>
          </a:prstGeom>
          <a:solidFill>
            <a:srgbClr val="0D1F1C"/>
          </a:solidFill>
          <a:ln/>
        </p:spPr>
        <p:txBody>
          <a:bodyPr/>
          <a:p/>
        </p:txBody>
      </p:sp>
      <p:pic>
        <p:nvPicPr>
          <p:cNvPr id="19" name="Image 0" descr="C:\Users\mateu\AppData\Local\Temp\claude\c--Users-mateu-Desktop-BotelhoOS-clientes-vellos\dfbad1cb-47d5-4b6f-a657-5f91b391efae\scratchpad\vellos-pptx-build\icons_png\clock-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3871570"/>
            <a:ext cx="395021" cy="39502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18488" y="3813048"/>
            <a:ext cx="406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9h às 12h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618488" y="4050792"/>
            <a:ext cx="406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Bloco da manhã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32688" y="4572000"/>
            <a:ext cx="470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Ligações e prospecção ativa.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78728" y="3520440"/>
            <a:ext cx="525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4ECE9"/>
            </a:solidFill>
            <a:prstDash val="solid"/>
          </a:ln>
          <a:effectLst>
            <a:outerShdw sx="100000" sy="100000" kx="0" ky="0" algn="bl" rotWithShape="0" blurRad="101600" dist="38100" dir="8100000">
              <a:srgbClr val="0D1F1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553048" y="3794760"/>
            <a:ext cx="548640" cy="548640"/>
          </a:xfrm>
          <a:prstGeom prst="ellipse">
            <a:avLst/>
          </a:prstGeom>
          <a:solidFill>
            <a:srgbClr val="0D1F1C"/>
          </a:solidFill>
          <a:ln/>
        </p:spPr>
        <p:txBody>
          <a:bodyPr/>
          <a:p/>
        </p:txBody>
      </p:sp>
      <p:pic>
        <p:nvPicPr>
          <p:cNvPr id="25" name="Image 1" descr="C:\Users\mateu\AppData\Local\Temp\claude\c--Users-mateu-Desktop-BotelhoOS-clientes-vellos\dfbad1cb-47d5-4b6f-a657-5f91b391efae\scratchpad\vellos-pptx-build\icons_png\cloc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857" y="3871570"/>
            <a:ext cx="395021" cy="395021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238848" y="3813048"/>
            <a:ext cx="406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13:30h às 17h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238848" y="4050792"/>
            <a:ext cx="406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Bloco da tarde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6553048" y="4572000"/>
            <a:ext cx="470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Continuidade da cadência e atualização da base.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58368" y="5440680"/>
            <a:ext cx="10874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 horária dedicada, com intervalo de almoço das 12h às 13:30h.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65836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C2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VELLOS</a:t>
            </a:r>
            <a:pPr indent="0" marL="0">
              <a:buNone/>
            </a:pPr>
            <a:r>
              <a:rPr lang="en-US" sz="900" spc="150" kern="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  Jornada de trabalho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05. INVESTIMENTO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49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Investimento mensal.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95033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 completa de SDR e BDR sobre sua base já existente, em regime mensal recorrente.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194560"/>
            <a:ext cx="10874959" cy="3200400"/>
          </a:xfrm>
          <a:prstGeom prst="roundRect">
            <a:avLst>
              <a:gd name="adj" fmla="val 2857"/>
            </a:avLst>
          </a:prstGeom>
          <a:solidFill>
            <a:srgbClr val="12302B"/>
          </a:solidFill>
          <a:ln w="12700">
            <a:solidFill>
              <a:srgbClr val="1E474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15568" y="2606040"/>
            <a:ext cx="99605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9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 COMPLETA · SDR + BDR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3063240"/>
            <a:ext cx="608997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E7F1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Ligações e prospecção multicanal ativa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E7F1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Atualização e renovação contínua da base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E7F1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Qualificação (SDR) e geração de negócios (BDR)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E7F1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Jornada dedicada: 9h às 12h e 13:30h às 17h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0843" y="2651760"/>
            <a:ext cx="0" cy="2286000"/>
          </a:xfrm>
          <a:prstGeom prst="line">
            <a:avLst/>
          </a:prstGeom>
          <a:noFill/>
          <a:ln w="12700">
            <a:solidFill>
              <a:srgbClr val="1E474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835841" y="3154680"/>
            <a:ext cx="3262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C9A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R$ 1.750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7835841" y="3886200"/>
            <a:ext cx="3262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mês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15568" y="4800600"/>
            <a:ext cx="9960559" cy="0"/>
          </a:xfrm>
          <a:prstGeom prst="line">
            <a:avLst/>
          </a:prstGeom>
          <a:noFill/>
          <a:ln w="12700">
            <a:solidFill>
              <a:srgbClr val="1E474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5568" y="4937760"/>
            <a:ext cx="99605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taxa de implantação adicional   ·   Renovação mensal automática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5F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VELLOS</a:t>
            </a:r>
            <a:pPr indent="0" marL="0">
              <a:buNone/>
            </a:pPr>
            <a:r>
              <a:rPr lang="en-US" sz="900" spc="150" kern="0" dirty="0">
                <a:solidFill>
                  <a:srgbClr val="9F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  Investimento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8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06. POR QUE A VELLOS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D1F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Experiência com quem tem base e com quem não tem.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95033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Vellos é especialista em operação comercial nos dois cenários: empresas sem base estruturada e empresas que já possuem cartela própria e precisam ativá-la com método.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651760"/>
            <a:ext cx="52546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4ECE9"/>
            </a:solidFill>
            <a:prstDash val="solid"/>
          </a:ln>
          <a:effectLst>
            <a:outerShdw sx="100000" sy="100000" kx="0" ky="0" algn="bl" rotWithShape="0" blurRad="101600" dist="38100" dir="8100000">
              <a:srgbClr val="0D1F1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78408" y="2971800"/>
            <a:ext cx="603504" cy="603504"/>
          </a:xfrm>
          <a:prstGeom prst="ellipse">
            <a:avLst/>
          </a:prstGeom>
          <a:solidFill>
            <a:srgbClr val="0D1F1C"/>
          </a:solidFill>
          <a:ln/>
        </p:spPr>
        <p:txBody>
          <a:bodyPr/>
          <a:p/>
        </p:txBody>
      </p:sp>
      <p:pic>
        <p:nvPicPr>
          <p:cNvPr id="7" name="Image 0" descr="C:\Users\mateu\AppData\Local\Temp\claude\c--Users-mateu-Desktop-BotelhoOS-clientes-vellos\dfbad1cb-47d5-4b6f-a657-5f91b391efae\scratchpad\vellos-pptx-build\icons_png\database-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899" y="3056291"/>
            <a:ext cx="434523" cy="4345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55648" y="2971800"/>
            <a:ext cx="383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spc="100" kern="0" dirty="0">
                <a:solidFill>
                  <a:srgbClr val="0A8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BASE PRÓPRIA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78408" y="3794760"/>
            <a:ext cx="4614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–"/>
            </a:pPr>
            <a:r>
              <a:rPr lang="en-US" sz="1300" dirty="0">
                <a:solidFill>
                  <a:srgbClr val="1C2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Definição de ICP e critérios de qualificação.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–"/>
            </a:pPr>
            <a:r>
              <a:rPr lang="en-US" sz="1300" dirty="0">
                <a:solidFill>
                  <a:srgbClr val="1C2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Construção e enriquecimento da base do zero.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–"/>
            </a:pPr>
            <a:r>
              <a:rPr lang="en-US" sz="1300" dirty="0">
                <a:solidFill>
                  <a:srgbClr val="1C2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Cadência multicanal para gerar a primeira demanda.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78728" y="2651760"/>
            <a:ext cx="5254600" cy="3383280"/>
          </a:xfrm>
          <a:prstGeom prst="roundRect">
            <a:avLst>
              <a:gd name="adj" fmla="val 2432"/>
            </a:avLst>
          </a:prstGeom>
          <a:solidFill>
            <a:srgbClr val="0D1F1C"/>
          </a:solidFill>
          <a:ln w="12700">
            <a:solidFill>
              <a:srgbClr val="0D1F1C"/>
            </a:solidFill>
            <a:prstDash val="solid"/>
          </a:ln>
          <a:effectLst>
            <a:outerShdw sx="100000" sy="100000" kx="0" ky="0" algn="bl" rotWithShape="0" blurRad="101600" dist="38100" dir="8100000">
              <a:srgbClr val="0D1F1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598768" y="2971800"/>
            <a:ext cx="603504" cy="603504"/>
          </a:xfrm>
          <a:prstGeom prst="ellipse">
            <a:avLst/>
          </a:prstGeom>
          <a:solidFill>
            <a:srgbClr val="0A8F7A"/>
          </a:solidFill>
          <a:ln/>
        </p:spPr>
        <p:txBody>
          <a:bodyPr/>
          <a:p/>
        </p:txBody>
      </p:sp>
      <p:pic>
        <p:nvPicPr>
          <p:cNvPr id="12" name="Image 1" descr="C:\Users\mateu\AppData\Local\Temp\claude\c--Users-mateu-Desktop-BotelhoOS-clientes-vellos\dfbad1cb-47d5-4b6f-a657-5f91b391efae\scratchpad\vellos-pptx-build\icons_png\sync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258" y="3056291"/>
            <a:ext cx="434523" cy="43452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76008" y="2971800"/>
            <a:ext cx="383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spc="100" kern="0" dirty="0">
                <a:solidFill>
                  <a:srgbClr val="00C9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BASE PRÓPRIA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598768" y="3794760"/>
            <a:ext cx="4614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–"/>
            </a:pPr>
            <a:r>
              <a:rPr lang="en-US" sz="1300" dirty="0">
                <a:solidFill>
                  <a:srgbClr val="E7F1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Ligações e prospecção ativa sobre a cartela existente.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–"/>
            </a:pPr>
            <a:r>
              <a:rPr lang="en-US" sz="1300" dirty="0">
                <a:solidFill>
                  <a:srgbClr val="E7F1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Renovação e atualização contínua dos dados.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–"/>
            </a:pPr>
            <a:r>
              <a:rPr lang="en-US" sz="1300" dirty="0">
                <a:solidFill>
                  <a:srgbClr val="E7F1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SDR e BDR atuando juntos, com foco em performance.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836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C2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VELLOS</a:t>
            </a:r>
            <a:pPr indent="0" marL="0">
              <a:buNone/>
            </a:pPr>
            <a:r>
              <a:rPr lang="en-US" sz="900" spc="150" kern="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  Por que a Vellos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8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07. CONDIÇÕES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D1F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Condições comerciais.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95033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Transparência total sobre como a parceria funciona no dia a dia.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423160"/>
            <a:ext cx="5300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CE9"/>
            </a:solidFill>
            <a:prstDash val="solid"/>
          </a:ln>
          <a:effectLst>
            <a:outerShdw sx="100000" sy="100000" kx="0" ky="0" algn="bl" rotWithShape="0" blurRad="101600" dist="38100" dir="8100000">
              <a:srgbClr val="0D1F1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86968" y="2628900"/>
            <a:ext cx="457200" cy="457200"/>
          </a:xfrm>
          <a:prstGeom prst="ellipse">
            <a:avLst/>
          </a:prstGeom>
          <a:solidFill>
            <a:srgbClr val="0A8F7A"/>
          </a:solidFill>
          <a:ln/>
        </p:spPr>
        <p:txBody>
          <a:bodyPr/>
          <a:p/>
        </p:txBody>
      </p:sp>
      <p:pic>
        <p:nvPicPr>
          <p:cNvPr id="7" name="Image 0" descr="C:\Users\mateu\AppData\Local\Temp\claude\c--Users-mateu-Desktop-BotelhoOS-clientes-vellos\dfbad1cb-47d5-4b6f-a657-5f91b391efae\scratchpad\vellos-pptx-build\icons_png\check-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6929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7048" y="2423160"/>
            <a:ext cx="420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D1F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Pagamento mensal antecipado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33008" y="2423160"/>
            <a:ext cx="5300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CE9"/>
            </a:solidFill>
            <a:prstDash val="solid"/>
          </a:ln>
          <a:effectLst>
            <a:outerShdw sx="100000" sy="100000" kx="0" ky="0" algn="bl" rotWithShape="0" blurRad="101600" dist="38100" dir="8100000">
              <a:srgbClr val="0D1F1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61608" y="2628900"/>
            <a:ext cx="457200" cy="457200"/>
          </a:xfrm>
          <a:prstGeom prst="ellipse">
            <a:avLst/>
          </a:prstGeom>
          <a:solidFill>
            <a:srgbClr val="0A8F7A"/>
          </a:solidFill>
          <a:ln/>
        </p:spPr>
        <p:txBody>
          <a:bodyPr/>
          <a:p/>
        </p:txBody>
      </p:sp>
      <p:pic>
        <p:nvPicPr>
          <p:cNvPr id="11" name="Image 1" descr="C:\Users\mateu\AppData\Local\Temp\claude\c--Users-mateu-Desktop-BotelhoOS-clientes-vellos\dfbad1cb-47d5-4b6f-a657-5f91b391efae\scratchpad\vellos-pptx-build\icons_png\chec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616" y="26929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01688" y="2423160"/>
            <a:ext cx="420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D1F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fidelidade mínima obrigatória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58368" y="3493008"/>
            <a:ext cx="5300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CE9"/>
            </a:solidFill>
            <a:prstDash val="solid"/>
          </a:ln>
          <a:effectLst>
            <a:outerShdw sx="100000" sy="100000" kx="0" ky="0" algn="bl" rotWithShape="0" blurRad="101600" dist="38100" dir="8100000">
              <a:srgbClr val="0D1F1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86968" y="3698748"/>
            <a:ext cx="457200" cy="457200"/>
          </a:xfrm>
          <a:prstGeom prst="ellipse">
            <a:avLst/>
          </a:prstGeom>
          <a:solidFill>
            <a:srgbClr val="0A8F7A"/>
          </a:solidFill>
          <a:ln/>
        </p:spPr>
        <p:txBody>
          <a:bodyPr/>
          <a:p/>
        </p:txBody>
      </p:sp>
      <p:pic>
        <p:nvPicPr>
          <p:cNvPr id="15" name="Image 2" descr="C:\Users\mateu\AppData\Local\Temp\claude\c--Users-mateu-Desktop-BotelhoOS-clientes-vellos\dfbad1cb-47d5-4b6f-a657-5f91b391efae\scratchpad\vellos-pptx-build\icons_png\che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76275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27048" y="3493008"/>
            <a:ext cx="420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D1F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Reajuste apenas com aviso prévio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33008" y="3493008"/>
            <a:ext cx="5300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CE9"/>
            </a:solidFill>
            <a:prstDash val="solid"/>
          </a:ln>
          <a:effectLst>
            <a:outerShdw sx="100000" sy="100000" kx="0" ky="0" algn="bl" rotWithShape="0" blurRad="101600" dist="38100" dir="8100000">
              <a:srgbClr val="0D1F1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6461608" y="3698748"/>
            <a:ext cx="457200" cy="457200"/>
          </a:xfrm>
          <a:prstGeom prst="ellipse">
            <a:avLst/>
          </a:prstGeom>
          <a:solidFill>
            <a:srgbClr val="0A8F7A"/>
          </a:solidFill>
          <a:ln/>
        </p:spPr>
        <p:txBody>
          <a:bodyPr/>
          <a:p/>
        </p:txBody>
      </p:sp>
      <p:pic>
        <p:nvPicPr>
          <p:cNvPr id="19" name="Image 3" descr="C:\Users\mateu\AppData\Local\Temp\claude\c--Users-mateu-Desktop-BotelhoOS-clientes-vellos\dfbad1cb-47d5-4b6f-a657-5f91b391efae\scratchpad\vellos-pptx-build\icons_png\che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616" y="3762756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01688" y="3493008"/>
            <a:ext cx="420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D1F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Relatório de indicadores mensal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8368" y="4562856"/>
            <a:ext cx="5300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CE9"/>
            </a:solidFill>
            <a:prstDash val="solid"/>
          </a:ln>
          <a:effectLst>
            <a:outerShdw sx="100000" sy="100000" kx="0" ky="0" algn="bl" rotWithShape="0" blurRad="101600" dist="38100" dir="8100000">
              <a:srgbClr val="0D1F1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886968" y="4768596"/>
            <a:ext cx="457200" cy="457200"/>
          </a:xfrm>
          <a:prstGeom prst="ellipse">
            <a:avLst/>
          </a:prstGeom>
          <a:solidFill>
            <a:srgbClr val="0A8F7A"/>
          </a:solidFill>
          <a:ln/>
        </p:spPr>
        <p:txBody>
          <a:bodyPr/>
          <a:p/>
        </p:txBody>
      </p:sp>
      <p:pic>
        <p:nvPicPr>
          <p:cNvPr id="23" name="Image 4" descr="C:\Users\mateu\AppData\Local\Temp\claude\c--Users-mateu-Desktop-BotelhoOS-clientes-vellos\dfbad1cb-47d5-4b6f-a657-5f91b391efae\scratchpad\vellos-pptx-build\icons_png\che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832604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27048" y="4562856"/>
            <a:ext cx="420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D1F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 focal dedicado da Vellos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6233008" y="4562856"/>
            <a:ext cx="5300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CE9"/>
            </a:solidFill>
            <a:prstDash val="solid"/>
          </a:ln>
          <a:effectLst>
            <a:outerShdw sx="100000" sy="100000" kx="0" ky="0" algn="bl" rotWithShape="0" blurRad="101600" dist="38100" dir="8100000">
              <a:srgbClr val="0D1F1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6461608" y="4768596"/>
            <a:ext cx="457200" cy="457200"/>
          </a:xfrm>
          <a:prstGeom prst="ellipse">
            <a:avLst/>
          </a:prstGeom>
          <a:solidFill>
            <a:srgbClr val="0A8F7A"/>
          </a:solidFill>
          <a:ln/>
        </p:spPr>
        <p:txBody>
          <a:bodyPr/>
          <a:p/>
        </p:txBody>
      </p:sp>
      <p:pic>
        <p:nvPicPr>
          <p:cNvPr id="27" name="Image 5" descr="C:\Users\mateu\AppData\Local\Temp\claude\c--Users-mateu-Desktop-BotelhoOS-clientes-vellos\dfbad1cb-47d5-4b6f-a657-5f91b391efae\scratchpad\vellos-pptx-build\icons_png\check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5616" y="4832604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01688" y="4562856"/>
            <a:ext cx="420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D1F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Cancelamento mediante aviso de 30 dias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65836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C2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VELLOS</a:t>
            </a:r>
            <a:pPr indent="0" marL="0">
              <a:buNone/>
            </a:pPr>
            <a:r>
              <a:rPr lang="en-US" sz="900" spc="150" kern="0" dirty="0">
                <a:solidFill>
                  <a:srgbClr val="5C6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  Condições comerciais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0C9A7">
              <a:alpha val="10000"/>
            </a:srgbClr>
          </a:solidFill>
          <a:ln/>
        </p:spPr>
        <p:txBody>
          <a:bodyPr/>
          <a:p/>
        </p:txBody>
      </p:sp>
      <p:pic>
        <p:nvPicPr>
          <p:cNvPr id="3" name="Image 0" descr="c:/Users/mateu/Desktop/BotelhoOS/clientes/vellos/unpacked/vellos-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6392" y="822960"/>
            <a:ext cx="43891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6002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2011680"/>
            <a:ext cx="94484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Vamos ativar sua base</a:t>
            </a:r>
            <a:endParaRPr lang="en-US" sz="36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 SDR e BDR dedicados.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286000" y="3703320"/>
            <a:ext cx="7619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9C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Proposta válida por 15 dias a partir da data de envio. Assinatura e início da operação combinados diretamente com o time Vellos.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72888" y="4526280"/>
            <a:ext cx="1645920" cy="0"/>
          </a:xfrm>
          <a:prstGeom prst="line">
            <a:avLst/>
          </a:prstGeom>
          <a:noFill/>
          <a:ln w="12700">
            <a:solidFill>
              <a:srgbClr val="1E474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comercial@vellosleads.com.br   ·   (85) 99216-4191   ·   vellosleads.com.br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Vellos — Proposta Comercial | Operação de SDR &amp; BDR B2B</dc:title>
  <dc:subject>PptxGenJS Presentation</dc:subject>
  <dc:creator>Vellos</dc:creator>
  <cp:lastModifiedBy>Vellos</cp:lastModifiedBy>
  <cp:revision>1</cp:revision>
  <dcterms:created xsi:type="dcterms:W3CDTF">2026-08-07T16:35:20Z</dcterms:created>
  <dcterms:modified xsi:type="dcterms:W3CDTF">2026-08-07T16:35:20Z</dcterms:modified>
</cp:coreProperties>
</file>